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jLE4C4rZXzLVEG8gqnEP1p1enA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0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7674bf00b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7674bf00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43a297df94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43a297df9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43a297df94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43a297df9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6.png"/><Relationship Id="rId22" Type="http://schemas.openxmlformats.org/officeDocument/2006/relationships/image" Target="../media/image28.png"/><Relationship Id="rId21" Type="http://schemas.openxmlformats.org/officeDocument/2006/relationships/image" Target="../media/image5.png"/><Relationship Id="rId24" Type="http://schemas.openxmlformats.org/officeDocument/2006/relationships/image" Target="../media/image25.png"/><Relationship Id="rId23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9" Type="http://schemas.openxmlformats.org/officeDocument/2006/relationships/image" Target="../media/image8.png"/><Relationship Id="rId26" Type="http://schemas.openxmlformats.org/officeDocument/2006/relationships/image" Target="../media/image23.png"/><Relationship Id="rId25" Type="http://schemas.openxmlformats.org/officeDocument/2006/relationships/image" Target="../media/image21.png"/><Relationship Id="rId28" Type="http://schemas.openxmlformats.org/officeDocument/2006/relationships/image" Target="../media/image29.png"/><Relationship Id="rId27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29" Type="http://schemas.openxmlformats.org/officeDocument/2006/relationships/image" Target="../media/image35.png"/><Relationship Id="rId7" Type="http://schemas.openxmlformats.org/officeDocument/2006/relationships/image" Target="../media/image19.png"/><Relationship Id="rId8" Type="http://schemas.openxmlformats.org/officeDocument/2006/relationships/image" Target="../media/image11.png"/><Relationship Id="rId31" Type="http://schemas.openxmlformats.org/officeDocument/2006/relationships/image" Target="../media/image33.png"/><Relationship Id="rId30" Type="http://schemas.openxmlformats.org/officeDocument/2006/relationships/image" Target="../media/image27.png"/><Relationship Id="rId11" Type="http://schemas.openxmlformats.org/officeDocument/2006/relationships/image" Target="../media/image15.png"/><Relationship Id="rId33" Type="http://schemas.openxmlformats.org/officeDocument/2006/relationships/image" Target="../media/image26.png"/><Relationship Id="rId10" Type="http://schemas.openxmlformats.org/officeDocument/2006/relationships/image" Target="../media/image13.png"/><Relationship Id="rId32" Type="http://schemas.openxmlformats.org/officeDocument/2006/relationships/image" Target="../media/image30.png"/><Relationship Id="rId13" Type="http://schemas.openxmlformats.org/officeDocument/2006/relationships/image" Target="../media/image10.png"/><Relationship Id="rId12" Type="http://schemas.openxmlformats.org/officeDocument/2006/relationships/image" Target="../media/image16.jpg"/><Relationship Id="rId34" Type="http://schemas.openxmlformats.org/officeDocument/2006/relationships/image" Target="../media/image32.png"/><Relationship Id="rId15" Type="http://schemas.openxmlformats.org/officeDocument/2006/relationships/image" Target="../media/image7.png"/><Relationship Id="rId14" Type="http://schemas.openxmlformats.org/officeDocument/2006/relationships/image" Target="../media/image9.jpg"/><Relationship Id="rId17" Type="http://schemas.openxmlformats.org/officeDocument/2006/relationships/image" Target="../media/image20.png"/><Relationship Id="rId16" Type="http://schemas.openxmlformats.org/officeDocument/2006/relationships/image" Target="../media/image12.png"/><Relationship Id="rId19" Type="http://schemas.openxmlformats.org/officeDocument/2006/relationships/image" Target="../media/image2.png"/><Relationship Id="rId18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8.jpg"/><Relationship Id="rId4" Type="http://schemas.openxmlformats.org/officeDocument/2006/relationships/image" Target="../media/image31.png"/><Relationship Id="rId5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85C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7674bf00b5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Mahaaya Proof of Value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27674bf00b5_0_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Service Packages Overview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97450" y="573150"/>
            <a:ext cx="10780200" cy="622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2354397" y="5707599"/>
            <a:ext cx="2095394" cy="338068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2450300" y="3716402"/>
            <a:ext cx="1842068" cy="96521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2"/>
          <p:cNvGrpSpPr/>
          <p:nvPr/>
        </p:nvGrpSpPr>
        <p:grpSpPr>
          <a:xfrm>
            <a:off x="220220" y="2108751"/>
            <a:ext cx="1033271" cy="1028700"/>
            <a:chOff x="285750" y="1185863"/>
            <a:chExt cx="1033271" cy="1028700"/>
          </a:xfrm>
        </p:grpSpPr>
        <p:sp>
          <p:nvSpPr>
            <p:cNvPr id="94" name="Google Shape;94;p2"/>
            <p:cNvSpPr/>
            <p:nvPr/>
          </p:nvSpPr>
          <p:spPr>
            <a:xfrm>
              <a:off x="285750" y="1185863"/>
              <a:ext cx="1033271" cy="1028700"/>
            </a:xfrm>
            <a:prstGeom prst="rect">
              <a:avLst/>
            </a:prstGeom>
            <a:noFill/>
            <a:ln cap="flat" cmpd="sng" w="12700">
              <a:solidFill>
                <a:srgbClr val="1E4E7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Database with solid fill" id="95" name="Google Shape;95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7984" y="147083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" name="Google Shape;96;p2"/>
          <p:cNvGrpSpPr/>
          <p:nvPr/>
        </p:nvGrpSpPr>
        <p:grpSpPr>
          <a:xfrm>
            <a:off x="220219" y="5002679"/>
            <a:ext cx="1033271" cy="1028700"/>
            <a:chOff x="285749" y="2438544"/>
            <a:chExt cx="1033271" cy="1028700"/>
          </a:xfrm>
        </p:grpSpPr>
        <p:pic>
          <p:nvPicPr>
            <p:cNvPr descr="Images with solid fill" id="97" name="Google Shape;97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0214" y="2585206"/>
              <a:ext cx="241560" cy="241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Video camera with solid fill" id="98" name="Google Shape;98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5757" y="2585206"/>
              <a:ext cx="241560" cy="241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ocument with solid fill" id="99" name="Google Shape;99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52935" y="2845412"/>
              <a:ext cx="241560" cy="2415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2"/>
            <p:cNvSpPr/>
            <p:nvPr/>
          </p:nvSpPr>
          <p:spPr>
            <a:xfrm>
              <a:off x="285749" y="2438544"/>
              <a:ext cx="1033271" cy="1028700"/>
            </a:xfrm>
            <a:prstGeom prst="rect">
              <a:avLst/>
            </a:prstGeom>
            <a:noFill/>
            <a:ln cap="flat" cmpd="sng" w="12700">
              <a:solidFill>
                <a:srgbClr val="1E4E7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220219" y="747515"/>
            <a:ext cx="1033271" cy="1028700"/>
            <a:chOff x="285749" y="3695717"/>
            <a:chExt cx="1033271" cy="1028700"/>
          </a:xfrm>
        </p:grpSpPr>
        <p:pic>
          <p:nvPicPr>
            <p:cNvPr descr="Wireless router outline" id="102" name="Google Shape;102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36769" y="4203276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Ethernet with solid fill" id="103" name="Google Shape;103;p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98782" y="4199050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Work from home Wi-Fi with solid fill" id="104" name="Google Shape;104;p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86584" y="3845535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ocial network with solid fill" id="105" name="Google Shape;105;p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39377" y="3845535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2"/>
            <p:cNvSpPr/>
            <p:nvPr/>
          </p:nvSpPr>
          <p:spPr>
            <a:xfrm>
              <a:off x="285749" y="3695717"/>
              <a:ext cx="1033271" cy="1028700"/>
            </a:xfrm>
            <a:prstGeom prst="rect">
              <a:avLst/>
            </a:prstGeom>
            <a:noFill/>
            <a:ln cap="flat" cmpd="sng" w="12700">
              <a:solidFill>
                <a:srgbClr val="1E4E7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220219" y="3469987"/>
            <a:ext cx="1033271" cy="1028700"/>
            <a:chOff x="285749" y="4930166"/>
            <a:chExt cx="1033271" cy="1028700"/>
          </a:xfrm>
        </p:grpSpPr>
        <p:pic>
          <p:nvPicPr>
            <p:cNvPr descr="CSV Icon - StayFi" id="108" name="Google Shape;108;p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36856" y="5397714"/>
              <a:ext cx="248189" cy="2481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3d xml file icon illustration 21951538 PNG" id="109" name="Google Shape;109;p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20824" y="5037639"/>
              <a:ext cx="268654" cy="2686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93872" y="5377252"/>
              <a:ext cx="244231" cy="2686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ree Json file Icon - Download in Flat Style" id="111" name="Google Shape;111;p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12628" y="5037639"/>
              <a:ext cx="268654" cy="2686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2"/>
            <p:cNvSpPr/>
            <p:nvPr/>
          </p:nvSpPr>
          <p:spPr>
            <a:xfrm>
              <a:off x="285749" y="4930166"/>
              <a:ext cx="1033271" cy="1028700"/>
            </a:xfrm>
            <a:prstGeom prst="rect">
              <a:avLst/>
            </a:prstGeom>
            <a:noFill/>
            <a:ln cap="flat" cmpd="sng" w="12700">
              <a:solidFill>
                <a:srgbClr val="1E4E7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1273351" y="674906"/>
            <a:ext cx="130810" cy="5527518"/>
          </a:xfrm>
          <a:prstGeom prst="rightBracket">
            <a:avLst>
              <a:gd fmla="val 8333" name="adj"/>
            </a:avLst>
          </a:prstGeom>
          <a:noFill/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268794" y="1749046"/>
            <a:ext cx="14859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Streaming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279374" y="3096588"/>
            <a:ext cx="14859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Relational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85725" y="4485115"/>
            <a:ext cx="14859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Semi-structured </a:t>
            </a:r>
            <a:endParaRPr>
              <a:solidFill>
                <a:srgbClr val="0B5394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232713" y="5971135"/>
            <a:ext cx="14859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Unstructured 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2354398" y="747515"/>
            <a:ext cx="1775746" cy="1028700"/>
          </a:xfrm>
          <a:prstGeom prst="rect">
            <a:avLst/>
          </a:prstGeom>
          <a:noFill/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vent Hubs | Microsoft Azure Color" id="119" name="Google Shape;119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flipH="1">
            <a:off x="2525227" y="854282"/>
            <a:ext cx="533070" cy="5259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oT Hub | Microsoft Azure Mono" id="120" name="Google Shape;120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flipH="1">
            <a:off x="3536335" y="852707"/>
            <a:ext cx="525994" cy="53307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2370584" y="1434465"/>
            <a:ext cx="92982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Event Hub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3410531" y="1434464"/>
            <a:ext cx="92982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IoT Hub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233074" y="5671966"/>
            <a:ext cx="102041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Images, videos, audio, free text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268794" y="4167270"/>
            <a:ext cx="102041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csv, json, xml, logs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408155" y="2809614"/>
            <a:ext cx="102041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databases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285212" y="1483372"/>
            <a:ext cx="102041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Iot devices, big data stream</a:t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2354397" y="2809615"/>
            <a:ext cx="3741603" cy="3232482"/>
          </a:xfrm>
          <a:prstGeom prst="rect">
            <a:avLst/>
          </a:prstGeom>
          <a:noFill/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2"/>
          <p:cNvGrpSpPr/>
          <p:nvPr/>
        </p:nvGrpSpPr>
        <p:grpSpPr>
          <a:xfrm>
            <a:off x="2582006" y="3905562"/>
            <a:ext cx="1502167" cy="490676"/>
            <a:chOff x="7100888" y="1247152"/>
            <a:chExt cx="1502167" cy="490676"/>
          </a:xfrm>
        </p:grpSpPr>
        <p:sp>
          <p:nvSpPr>
            <p:cNvPr id="129" name="Google Shape;129;p2"/>
            <p:cNvSpPr/>
            <p:nvPr/>
          </p:nvSpPr>
          <p:spPr>
            <a:xfrm>
              <a:off x="7100888" y="1247153"/>
              <a:ext cx="471487" cy="49067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7615898" y="1247153"/>
              <a:ext cx="471487" cy="490675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8131568" y="1247152"/>
              <a:ext cx="471487" cy="4906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2"/>
          <p:cNvSpPr txBox="1"/>
          <p:nvPr/>
        </p:nvSpPr>
        <p:spPr>
          <a:xfrm>
            <a:off x="2451020" y="4390190"/>
            <a:ext cx="681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Bronze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3085559" y="4390189"/>
            <a:ext cx="681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Silver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3611367" y="4390188"/>
            <a:ext cx="681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Gold</a:t>
            </a:r>
            <a:endParaRPr/>
          </a:p>
        </p:txBody>
      </p:sp>
      <p:grpSp>
        <p:nvGrpSpPr>
          <p:cNvPr id="135" name="Google Shape;135;p2"/>
          <p:cNvGrpSpPr/>
          <p:nvPr/>
        </p:nvGrpSpPr>
        <p:grpSpPr>
          <a:xfrm>
            <a:off x="2833979" y="3323045"/>
            <a:ext cx="1688809" cy="358074"/>
            <a:chOff x="2620923" y="3200152"/>
            <a:chExt cx="1688809" cy="358074"/>
          </a:xfrm>
        </p:grpSpPr>
        <p:pic>
          <p:nvPicPr>
            <p:cNvPr descr="Connecting your own Hadoop or Spark to Azure Data Lake Store | by Amit  Kulkarni | Azure Data Lake | Medium" id="136" name="Google Shape;136;p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628732" y="3200152"/>
              <a:ext cx="681000" cy="358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2"/>
            <p:cNvSpPr txBox="1"/>
            <p:nvPr/>
          </p:nvSpPr>
          <p:spPr>
            <a:xfrm>
              <a:off x="2620923" y="3275597"/>
              <a:ext cx="1256653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4E79"/>
                  </a:solidFill>
                  <a:latin typeface="Arial"/>
                  <a:ea typeface="Arial"/>
                  <a:cs typeface="Arial"/>
                  <a:sym typeface="Arial"/>
                </a:rPr>
                <a:t>ADLS Medallion</a:t>
              </a:r>
              <a:endParaRPr/>
            </a:p>
          </p:txBody>
        </p:sp>
      </p:grpSp>
      <p:pic>
        <p:nvPicPr>
          <p:cNvPr descr="Official Azure Icon Set" id="138" name="Google Shape;138;p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292340" y="3022064"/>
            <a:ext cx="371772" cy="3717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zure Synapse Analytics — Taygan" id="139" name="Google Shape;139;p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220808" y="3928305"/>
            <a:ext cx="514837" cy="514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zure Synapse Analytics — Taygan" id="140" name="Google Shape;140;p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220808" y="4947642"/>
            <a:ext cx="514837" cy="51483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"/>
          <p:cNvSpPr txBox="1"/>
          <p:nvPr/>
        </p:nvSpPr>
        <p:spPr>
          <a:xfrm>
            <a:off x="4899007" y="3432079"/>
            <a:ext cx="117859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4E79"/>
                </a:solidFill>
              </a:rPr>
              <a:t>Synapse </a:t>
            </a:r>
            <a:r>
              <a:rPr lang="en-US" sz="12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data explorer </a:t>
            </a:r>
            <a:r>
              <a:rPr lang="en-US" sz="1200">
                <a:solidFill>
                  <a:srgbClr val="1E4E79"/>
                </a:solidFill>
              </a:rPr>
              <a:t>p</a:t>
            </a:r>
            <a:r>
              <a:rPr lang="en-US" sz="12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ool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4926907" y="4429983"/>
            <a:ext cx="117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4E79"/>
                </a:solidFill>
              </a:rPr>
              <a:t>Synapse</a:t>
            </a:r>
            <a:r>
              <a:rPr lang="en-US" sz="12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 spark pool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4888930" y="5462479"/>
            <a:ext cx="117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4E79"/>
                </a:solidFill>
              </a:rPr>
              <a:t>Synapse</a:t>
            </a:r>
            <a:r>
              <a:rPr lang="en-US" sz="12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 SQL  pool</a:t>
            </a:r>
            <a:endParaRPr/>
          </a:p>
        </p:txBody>
      </p:sp>
      <p:cxnSp>
        <p:nvCxnSpPr>
          <p:cNvPr id="144" name="Google Shape;144;p2"/>
          <p:cNvCxnSpPr>
            <a:stCxn id="106" idx="3"/>
            <a:endCxn id="118" idx="1"/>
          </p:cNvCxnSpPr>
          <p:nvPr/>
        </p:nvCxnSpPr>
        <p:spPr>
          <a:xfrm>
            <a:off x="1253490" y="1261865"/>
            <a:ext cx="1101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sm" w="sm" type="none"/>
            <a:tailEnd len="med" w="med" type="triangle"/>
          </a:ln>
        </p:spPr>
      </p:cxnSp>
      <p:cxnSp>
        <p:nvCxnSpPr>
          <p:cNvPr id="145" name="Google Shape;145;p2"/>
          <p:cNvCxnSpPr/>
          <p:nvPr/>
        </p:nvCxnSpPr>
        <p:spPr>
          <a:xfrm>
            <a:off x="1289210" y="4157571"/>
            <a:ext cx="1117325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sm" w="sm" type="none"/>
            <a:tailEnd len="med" w="med" type="triangle"/>
          </a:ln>
        </p:spPr>
      </p:cxnSp>
      <p:cxnSp>
        <p:nvCxnSpPr>
          <p:cNvPr id="146" name="Google Shape;146;p2"/>
          <p:cNvCxnSpPr/>
          <p:nvPr/>
        </p:nvCxnSpPr>
        <p:spPr>
          <a:xfrm>
            <a:off x="1814513" y="2516253"/>
            <a:ext cx="0" cy="313485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47" name="Google Shape;147;p2"/>
          <p:cNvCxnSpPr/>
          <p:nvPr/>
        </p:nvCxnSpPr>
        <p:spPr>
          <a:xfrm>
            <a:off x="1289210" y="2525778"/>
            <a:ext cx="525303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sm" w="sm" type="none"/>
            <a:tailEnd len="sm" w="sm" type="none"/>
          </a:ln>
        </p:spPr>
      </p:cxnSp>
      <p:cxnSp>
        <p:nvCxnSpPr>
          <p:cNvPr id="148" name="Google Shape;148;p2"/>
          <p:cNvCxnSpPr/>
          <p:nvPr/>
        </p:nvCxnSpPr>
        <p:spPr>
          <a:xfrm>
            <a:off x="1289210" y="5651107"/>
            <a:ext cx="525303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2"/>
          <p:cNvSpPr txBox="1"/>
          <p:nvPr/>
        </p:nvSpPr>
        <p:spPr>
          <a:xfrm>
            <a:off x="2292838" y="5715575"/>
            <a:ext cx="215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</a:rPr>
              <a:t>Microsoft Fabric</a:t>
            </a:r>
            <a:endParaRPr/>
          </a:p>
        </p:txBody>
      </p:sp>
      <p:sp>
        <p:nvSpPr>
          <p:cNvPr id="150" name="Google Shape;150;p2"/>
          <p:cNvSpPr/>
          <p:nvPr/>
        </p:nvSpPr>
        <p:spPr>
          <a:xfrm rot="8525489">
            <a:off x="2470381" y="3930530"/>
            <a:ext cx="914400" cy="914400"/>
          </a:xfrm>
          <a:prstGeom prst="arc">
            <a:avLst>
              <a:gd fmla="val 15822648" name="adj1"/>
              <a:gd fmla="val 21073137" name="adj2"/>
            </a:avLst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 rot="8525489">
            <a:off x="3196388" y="3941470"/>
            <a:ext cx="914400" cy="914400"/>
          </a:xfrm>
          <a:prstGeom prst="arc">
            <a:avLst>
              <a:gd fmla="val 15822648" name="adj1"/>
              <a:gd fmla="val 21073137" name="adj2"/>
            </a:avLst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med" w="med" type="stealth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2"/>
          <p:cNvCxnSpPr/>
          <p:nvPr/>
        </p:nvCxnSpPr>
        <p:spPr>
          <a:xfrm flipH="1" rot="10800000">
            <a:off x="4103483" y="3475002"/>
            <a:ext cx="988499" cy="647486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sm" w="sm" type="none"/>
            <a:tailEnd len="med" w="med" type="triangle"/>
          </a:ln>
        </p:spPr>
      </p:cxnSp>
      <p:cxnSp>
        <p:nvCxnSpPr>
          <p:cNvPr id="153" name="Google Shape;153;p2"/>
          <p:cNvCxnSpPr>
            <a:stCxn id="131" idx="3"/>
            <a:endCxn id="139" idx="1"/>
          </p:cNvCxnSpPr>
          <p:nvPr/>
        </p:nvCxnSpPr>
        <p:spPr>
          <a:xfrm>
            <a:off x="4084173" y="4150900"/>
            <a:ext cx="1136700" cy="34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sm" w="sm" type="none"/>
            <a:tailEnd len="med" w="med" type="triangle"/>
          </a:ln>
        </p:spPr>
      </p:cxnSp>
      <p:cxnSp>
        <p:nvCxnSpPr>
          <p:cNvPr id="154" name="Google Shape;154;p2"/>
          <p:cNvCxnSpPr>
            <a:endCxn id="140" idx="1"/>
          </p:cNvCxnSpPr>
          <p:nvPr/>
        </p:nvCxnSpPr>
        <p:spPr>
          <a:xfrm>
            <a:off x="4102708" y="4191661"/>
            <a:ext cx="1118100" cy="1013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sm" w="sm" type="none"/>
            <a:tailEnd len="med" w="med" type="triangle"/>
          </a:ln>
        </p:spPr>
      </p:cxnSp>
      <p:sp>
        <p:nvSpPr>
          <p:cNvPr id="155" name="Google Shape;155;p2"/>
          <p:cNvSpPr/>
          <p:nvPr/>
        </p:nvSpPr>
        <p:spPr>
          <a:xfrm>
            <a:off x="4447425" y="747515"/>
            <a:ext cx="1775746" cy="1028700"/>
          </a:xfrm>
          <a:prstGeom prst="rect">
            <a:avLst/>
          </a:prstGeom>
          <a:noFill/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tream Analytics | Microsoft Azure Mono" id="156" name="Google Shape;156;p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818398" y="806319"/>
            <a:ext cx="810553" cy="61816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"/>
          <p:cNvSpPr txBox="1"/>
          <p:nvPr/>
        </p:nvSpPr>
        <p:spPr>
          <a:xfrm>
            <a:off x="4459102" y="1459096"/>
            <a:ext cx="18807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Azure Stream Analytics</a:t>
            </a:r>
            <a:endParaRPr/>
          </a:p>
        </p:txBody>
      </p:sp>
      <p:cxnSp>
        <p:nvCxnSpPr>
          <p:cNvPr id="158" name="Google Shape;158;p2"/>
          <p:cNvCxnSpPr>
            <a:stCxn id="118" idx="3"/>
            <a:endCxn id="155" idx="1"/>
          </p:cNvCxnSpPr>
          <p:nvPr/>
        </p:nvCxnSpPr>
        <p:spPr>
          <a:xfrm>
            <a:off x="4130144" y="1261865"/>
            <a:ext cx="31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sm" w="sm" type="none"/>
            <a:tailEnd len="med" w="med" type="triangle"/>
          </a:ln>
        </p:spPr>
      </p:cxnSp>
      <p:cxnSp>
        <p:nvCxnSpPr>
          <p:cNvPr id="159" name="Google Shape;159;p2"/>
          <p:cNvCxnSpPr/>
          <p:nvPr/>
        </p:nvCxnSpPr>
        <p:spPr>
          <a:xfrm>
            <a:off x="5399469" y="1750383"/>
            <a:ext cx="0" cy="105453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med" w="med" type="triangle"/>
            <a:tailEnd len="med" w="med" type="triangle"/>
          </a:ln>
        </p:spPr>
      </p:cxnSp>
      <p:sp>
        <p:nvSpPr>
          <p:cNvPr id="160" name="Google Shape;160;p2"/>
          <p:cNvSpPr/>
          <p:nvPr/>
        </p:nvSpPr>
        <p:spPr>
          <a:xfrm>
            <a:off x="6845016" y="1776215"/>
            <a:ext cx="1775746" cy="1028700"/>
          </a:xfrm>
          <a:prstGeom prst="rect">
            <a:avLst/>
          </a:prstGeom>
          <a:noFill/>
          <a:ln cap="flat" cmpd="sng" w="12700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hat are Azure Cognitive Services?" id="161" name="Google Shape;161;p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964943" y="1952034"/>
            <a:ext cx="630484" cy="353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zure Machine Learning Service Part-1: Creating Workspace | by Kalyan Kumar  Pichuka | Analytics Vidhya | Medium" id="162" name="Google Shape;162;p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827070" y="1890238"/>
            <a:ext cx="780404" cy="4370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"/>
          <p:cNvSpPr txBox="1"/>
          <p:nvPr/>
        </p:nvSpPr>
        <p:spPr>
          <a:xfrm>
            <a:off x="6964943" y="2272250"/>
            <a:ext cx="9298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Cognitive service</a:t>
            </a:r>
            <a:endParaRPr/>
          </a:p>
        </p:txBody>
      </p:sp>
      <p:sp>
        <p:nvSpPr>
          <p:cNvPr id="164" name="Google Shape;164;p2"/>
          <p:cNvSpPr txBox="1"/>
          <p:nvPr/>
        </p:nvSpPr>
        <p:spPr>
          <a:xfrm>
            <a:off x="7827070" y="2272249"/>
            <a:ext cx="9298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endParaRPr/>
          </a:p>
        </p:txBody>
      </p:sp>
      <p:cxnSp>
        <p:nvCxnSpPr>
          <p:cNvPr id="165" name="Google Shape;165;p2"/>
          <p:cNvCxnSpPr/>
          <p:nvPr/>
        </p:nvCxnSpPr>
        <p:spPr>
          <a:xfrm rot="10800000">
            <a:off x="5735617" y="1776069"/>
            <a:ext cx="1109400" cy="352500"/>
          </a:xfrm>
          <a:prstGeom prst="bentConnector3">
            <a:avLst>
              <a:gd fmla="val 100225" name="adj1"/>
            </a:avLst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med" w="med" type="triangle"/>
            <a:tailEnd len="med" w="med" type="triangle"/>
          </a:ln>
        </p:spPr>
      </p:cxnSp>
      <p:cxnSp>
        <p:nvCxnSpPr>
          <p:cNvPr id="166" name="Google Shape;166;p2"/>
          <p:cNvCxnSpPr>
            <a:stCxn id="160" idx="1"/>
          </p:cNvCxnSpPr>
          <p:nvPr/>
        </p:nvCxnSpPr>
        <p:spPr>
          <a:xfrm flipH="1">
            <a:off x="5735616" y="2290565"/>
            <a:ext cx="1109400" cy="514500"/>
          </a:xfrm>
          <a:prstGeom prst="bentConnector3">
            <a:avLst>
              <a:gd fmla="val 98937" name="adj1"/>
            </a:avLst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med" w="med" type="triangle"/>
            <a:tailEnd len="med" w="med" type="triangle"/>
          </a:ln>
        </p:spPr>
      </p:cxnSp>
      <p:sp>
        <p:nvSpPr>
          <p:cNvPr id="167" name="Google Shape;167;p2"/>
          <p:cNvSpPr/>
          <p:nvPr/>
        </p:nvSpPr>
        <p:spPr>
          <a:xfrm>
            <a:off x="9415475" y="674900"/>
            <a:ext cx="1400100" cy="552750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"/>
          <p:cNvCxnSpPr/>
          <p:nvPr/>
        </p:nvCxnSpPr>
        <p:spPr>
          <a:xfrm>
            <a:off x="6223171" y="1250848"/>
            <a:ext cx="3192292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sm" w="sm" type="none"/>
            <a:tailEnd len="med" w="med" type="triangle"/>
          </a:ln>
        </p:spPr>
      </p:cxnSp>
      <p:cxnSp>
        <p:nvCxnSpPr>
          <p:cNvPr id="169" name="Google Shape;169;p2"/>
          <p:cNvCxnSpPr/>
          <p:nvPr/>
        </p:nvCxnSpPr>
        <p:spPr>
          <a:xfrm>
            <a:off x="6105499" y="4304408"/>
            <a:ext cx="3309964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sm" w="sm" type="none"/>
            <a:tailEnd len="med" w="med" type="triangle"/>
          </a:ln>
        </p:spPr>
      </p:cxnSp>
      <p:sp>
        <p:nvSpPr>
          <p:cNvPr id="170" name="Google Shape;170;p2"/>
          <p:cNvSpPr txBox="1"/>
          <p:nvPr/>
        </p:nvSpPr>
        <p:spPr>
          <a:xfrm>
            <a:off x="6597651" y="984650"/>
            <a:ext cx="3060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4E79"/>
                </a:solidFill>
              </a:rPr>
              <a:t>Data stream &amp; real time dashboards</a:t>
            </a:r>
            <a:endParaRPr/>
          </a:p>
        </p:txBody>
      </p:sp>
      <p:sp>
        <p:nvSpPr>
          <p:cNvPr id="171" name="Google Shape;171;p2"/>
          <p:cNvSpPr txBox="1"/>
          <p:nvPr/>
        </p:nvSpPr>
        <p:spPr>
          <a:xfrm>
            <a:off x="6731784" y="4336547"/>
            <a:ext cx="258415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E4E79"/>
                </a:solidFill>
              </a:rPr>
              <a:t>Self-service analytics, business intelligence, data sharing etc.</a:t>
            </a:r>
            <a:endParaRPr/>
          </a:p>
        </p:txBody>
      </p:sp>
      <p:sp>
        <p:nvSpPr>
          <p:cNvPr id="172" name="Google Shape;172;p2"/>
          <p:cNvSpPr/>
          <p:nvPr/>
        </p:nvSpPr>
        <p:spPr>
          <a:xfrm>
            <a:off x="5835003" y="4210307"/>
            <a:ext cx="255456" cy="195093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sers with solid fill" id="173" name="Google Shape;173;p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9639186" y="74751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"/>
          <p:cNvSpPr txBox="1"/>
          <p:nvPr/>
        </p:nvSpPr>
        <p:spPr>
          <a:xfrm>
            <a:off x="9460689" y="1449853"/>
            <a:ext cx="128351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Business Users</a:t>
            </a:r>
            <a:endParaRPr/>
          </a:p>
        </p:txBody>
      </p:sp>
      <p:pic>
        <p:nvPicPr>
          <p:cNvPr descr="Gauge with solid fill" id="175" name="Google Shape;175;p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9777834" y="3058136"/>
            <a:ext cx="668318" cy="668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tistics with solid fill" id="176" name="Google Shape;176;p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 flipH="1" rot="10800000">
            <a:off x="9710026" y="1997788"/>
            <a:ext cx="736126" cy="736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with solid fill" id="177" name="Google Shape;177;p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9658350" y="3977248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re outline" id="178" name="Google Shape;178;p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9639186" y="496223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"/>
          <p:cNvSpPr txBox="1"/>
          <p:nvPr/>
        </p:nvSpPr>
        <p:spPr>
          <a:xfrm>
            <a:off x="9482889" y="2671129"/>
            <a:ext cx="128351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Enterprise Analytics</a:t>
            </a:r>
            <a:endParaRPr/>
          </a:p>
        </p:txBody>
      </p:sp>
      <p:sp>
        <p:nvSpPr>
          <p:cNvPr id="180" name="Google Shape;180;p2"/>
          <p:cNvSpPr txBox="1"/>
          <p:nvPr/>
        </p:nvSpPr>
        <p:spPr>
          <a:xfrm>
            <a:off x="9489263" y="3636408"/>
            <a:ext cx="128351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Business Intelligence</a:t>
            </a:r>
            <a:endParaRPr/>
          </a:p>
        </p:txBody>
      </p:sp>
      <p:sp>
        <p:nvSpPr>
          <p:cNvPr id="181" name="Google Shape;181;p2"/>
          <p:cNvSpPr txBox="1"/>
          <p:nvPr/>
        </p:nvSpPr>
        <p:spPr>
          <a:xfrm>
            <a:off x="9512676" y="4698380"/>
            <a:ext cx="128351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endParaRPr/>
          </a:p>
        </p:txBody>
      </p:sp>
      <p:sp>
        <p:nvSpPr>
          <p:cNvPr id="182" name="Google Shape;182;p2"/>
          <p:cNvSpPr txBox="1"/>
          <p:nvPr/>
        </p:nvSpPr>
        <p:spPr>
          <a:xfrm>
            <a:off x="9436334" y="5661189"/>
            <a:ext cx="128351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Data Sharing</a:t>
            </a:r>
            <a:endParaRPr/>
          </a:p>
        </p:txBody>
      </p:sp>
      <p:sp>
        <p:nvSpPr>
          <p:cNvPr id="183" name="Google Shape;183;p2"/>
          <p:cNvSpPr/>
          <p:nvPr/>
        </p:nvSpPr>
        <p:spPr>
          <a:xfrm>
            <a:off x="233074" y="6319095"/>
            <a:ext cx="10582564" cy="432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Governance (Azure Purview)</a:t>
            </a:r>
            <a:endParaRPr/>
          </a:p>
        </p:txBody>
      </p:sp>
      <p:sp>
        <p:nvSpPr>
          <p:cNvPr id="184" name="Google Shape;184;p2"/>
          <p:cNvSpPr/>
          <p:nvPr/>
        </p:nvSpPr>
        <p:spPr>
          <a:xfrm>
            <a:off x="232713" y="6322609"/>
            <a:ext cx="920154" cy="43257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"/>
          <p:cNvSpPr txBox="1"/>
          <p:nvPr/>
        </p:nvSpPr>
        <p:spPr>
          <a:xfrm>
            <a:off x="268794" y="6309689"/>
            <a:ext cx="9298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Sources</a:t>
            </a:r>
            <a:endParaRPr/>
          </a:p>
        </p:txBody>
      </p:sp>
      <p:pic>
        <p:nvPicPr>
          <p:cNvPr descr="Badge 4 with solid fill" id="186" name="Google Shape;186;p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758520" y="224049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dge 3 with solid fill" id="187" name="Google Shape;187;p2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4382459" y="397164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dge with solid fill" id="188" name="Google Shape;188;p2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3013686" y="297206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dge 1 with solid fill" id="189" name="Google Shape;189;p2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1807020" y="191979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"/>
          <p:cNvSpPr txBox="1"/>
          <p:nvPr/>
        </p:nvSpPr>
        <p:spPr>
          <a:xfrm>
            <a:off x="2155843" y="2037023"/>
            <a:ext cx="929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Ingest</a:t>
            </a:r>
            <a:endParaRPr/>
          </a:p>
        </p:txBody>
      </p:sp>
      <p:sp>
        <p:nvSpPr>
          <p:cNvPr id="191" name="Google Shape;191;p2"/>
          <p:cNvSpPr txBox="1"/>
          <p:nvPr/>
        </p:nvSpPr>
        <p:spPr>
          <a:xfrm>
            <a:off x="3410524" y="3097877"/>
            <a:ext cx="929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Store</a:t>
            </a:r>
            <a:endParaRPr/>
          </a:p>
        </p:txBody>
      </p:sp>
      <p:sp>
        <p:nvSpPr>
          <p:cNvPr id="192" name="Google Shape;192;p2"/>
          <p:cNvSpPr txBox="1"/>
          <p:nvPr/>
        </p:nvSpPr>
        <p:spPr>
          <a:xfrm>
            <a:off x="6121168" y="2389610"/>
            <a:ext cx="92982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ML Ops</a:t>
            </a:r>
            <a:endParaRPr/>
          </a:p>
        </p:txBody>
      </p:sp>
      <p:sp>
        <p:nvSpPr>
          <p:cNvPr id="193" name="Google Shape;193;p2"/>
          <p:cNvSpPr txBox="1"/>
          <p:nvPr/>
        </p:nvSpPr>
        <p:spPr>
          <a:xfrm>
            <a:off x="8796085" y="3915909"/>
            <a:ext cx="92982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Serve</a:t>
            </a:r>
            <a:endParaRPr/>
          </a:p>
        </p:txBody>
      </p:sp>
      <p:sp>
        <p:nvSpPr>
          <p:cNvPr id="194" name="Google Shape;194;p2"/>
          <p:cNvSpPr txBox="1"/>
          <p:nvPr/>
        </p:nvSpPr>
        <p:spPr>
          <a:xfrm>
            <a:off x="328862" y="142280"/>
            <a:ext cx="107462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Reference Architecture (Data Value Chain)</a:t>
            </a:r>
            <a:endParaRPr/>
          </a:p>
        </p:txBody>
      </p:sp>
      <p:sp>
        <p:nvSpPr>
          <p:cNvPr id="195" name="Google Shape;195;p2"/>
          <p:cNvSpPr txBox="1"/>
          <p:nvPr/>
        </p:nvSpPr>
        <p:spPr>
          <a:xfrm>
            <a:off x="1389774" y="3780888"/>
            <a:ext cx="148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394"/>
                </a:solidFill>
              </a:rPr>
              <a:t>Batch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196" name="Google Shape;196;p2"/>
          <p:cNvSpPr txBox="1"/>
          <p:nvPr/>
        </p:nvSpPr>
        <p:spPr>
          <a:xfrm>
            <a:off x="2944387" y="2408013"/>
            <a:ext cx="148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394"/>
                </a:solidFill>
              </a:rPr>
              <a:t>Near Real Time</a:t>
            </a:r>
            <a:endParaRPr>
              <a:solidFill>
                <a:srgbClr val="0B5394"/>
              </a:solidFill>
            </a:endParaRPr>
          </a:p>
        </p:txBody>
      </p:sp>
      <p:pic>
        <p:nvPicPr>
          <p:cNvPr id="197" name="Google Shape;197;p2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8840650" y="471375"/>
            <a:ext cx="317400" cy="362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2375551" y="5027363"/>
            <a:ext cx="457200" cy="3424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2"/>
          <p:cNvCxnSpPr/>
          <p:nvPr/>
        </p:nvCxnSpPr>
        <p:spPr>
          <a:xfrm>
            <a:off x="2817749" y="1821926"/>
            <a:ext cx="0" cy="2047229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miter lim="800000"/>
            <a:headEnd len="sm" w="sm" type="none"/>
            <a:tailEnd len="med" w="med" type="triangle"/>
          </a:ln>
        </p:spPr>
      </p:cxnSp>
      <p:sp>
        <p:nvSpPr>
          <p:cNvPr id="200" name="Google Shape;200;p2"/>
          <p:cNvSpPr txBox="1"/>
          <p:nvPr/>
        </p:nvSpPr>
        <p:spPr>
          <a:xfrm>
            <a:off x="2761174" y="5097750"/>
            <a:ext cx="188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B5394"/>
                </a:solidFill>
              </a:rPr>
              <a:t>Azure Data Factory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201" name="Google Shape;201;p2"/>
          <p:cNvSpPr txBox="1"/>
          <p:nvPr/>
        </p:nvSpPr>
        <p:spPr>
          <a:xfrm>
            <a:off x="4542061" y="4372602"/>
            <a:ext cx="929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B0F0"/>
                </a:solidFill>
              </a:rPr>
              <a:t>Process</a:t>
            </a:r>
            <a:endParaRPr/>
          </a:p>
        </p:txBody>
      </p:sp>
      <p:pic>
        <p:nvPicPr>
          <p:cNvPr id="202" name="Google Shape;202;p2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8840650" y="355637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"/>
          <p:cNvSpPr/>
          <p:nvPr/>
        </p:nvSpPr>
        <p:spPr>
          <a:xfrm>
            <a:off x="370972" y="1383631"/>
            <a:ext cx="2342148" cy="363353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"/>
          <p:cNvSpPr/>
          <p:nvPr/>
        </p:nvSpPr>
        <p:spPr>
          <a:xfrm>
            <a:off x="328862" y="1239252"/>
            <a:ext cx="2408322" cy="28875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Assessment &amp; Strategy</a:t>
            </a:r>
            <a:endParaRPr/>
          </a:p>
        </p:txBody>
      </p:sp>
      <p:sp>
        <p:nvSpPr>
          <p:cNvPr id="209" name="Google Shape;209;p1"/>
          <p:cNvSpPr/>
          <p:nvPr/>
        </p:nvSpPr>
        <p:spPr>
          <a:xfrm>
            <a:off x="473239" y="1588167"/>
            <a:ext cx="2134958" cy="32605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"/>
          <p:cNvSpPr/>
          <p:nvPr/>
        </p:nvSpPr>
        <p:spPr>
          <a:xfrm>
            <a:off x="336883" y="697838"/>
            <a:ext cx="11666618" cy="421105"/>
          </a:xfrm>
          <a:prstGeom prst="rect">
            <a:avLst/>
          </a:prstGeom>
          <a:solidFill>
            <a:srgbClr val="8DA9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Our POV approach is underpinned by 2 key components – a. security &amp; compliance, and b. cost optimization</a:t>
            </a:r>
            <a:endParaRPr/>
          </a:p>
        </p:txBody>
      </p:sp>
      <p:sp>
        <p:nvSpPr>
          <p:cNvPr id="211" name="Google Shape;211;p1"/>
          <p:cNvSpPr/>
          <p:nvPr/>
        </p:nvSpPr>
        <p:spPr>
          <a:xfrm>
            <a:off x="2989846" y="1383631"/>
            <a:ext cx="2342148" cy="363353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"/>
          <p:cNvSpPr/>
          <p:nvPr/>
        </p:nvSpPr>
        <p:spPr>
          <a:xfrm>
            <a:off x="2947736" y="1239252"/>
            <a:ext cx="2408322" cy="28875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POV Implementation</a:t>
            </a:r>
            <a:endParaRPr/>
          </a:p>
        </p:txBody>
      </p:sp>
      <p:sp>
        <p:nvSpPr>
          <p:cNvPr id="213" name="Google Shape;213;p1"/>
          <p:cNvSpPr/>
          <p:nvPr/>
        </p:nvSpPr>
        <p:spPr>
          <a:xfrm>
            <a:off x="5626766" y="1383631"/>
            <a:ext cx="2342148" cy="363353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"/>
          <p:cNvSpPr/>
          <p:nvPr/>
        </p:nvSpPr>
        <p:spPr>
          <a:xfrm>
            <a:off x="5584656" y="1239252"/>
            <a:ext cx="2408322" cy="28875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Knowledge Transfer</a:t>
            </a:r>
            <a:endParaRPr/>
          </a:p>
        </p:txBody>
      </p:sp>
      <p:sp>
        <p:nvSpPr>
          <p:cNvPr id="215" name="Google Shape;215;p1"/>
          <p:cNvSpPr/>
          <p:nvPr/>
        </p:nvSpPr>
        <p:spPr>
          <a:xfrm>
            <a:off x="5729033" y="1588167"/>
            <a:ext cx="2134958" cy="32605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"/>
          <p:cNvSpPr/>
          <p:nvPr/>
        </p:nvSpPr>
        <p:spPr>
          <a:xfrm>
            <a:off x="8239622" y="3080090"/>
            <a:ext cx="1840831" cy="445168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20k USD</a:t>
            </a:r>
            <a:endParaRPr/>
          </a:p>
        </p:txBody>
      </p:sp>
      <p:sp>
        <p:nvSpPr>
          <p:cNvPr id="217" name="Google Shape;217;p1"/>
          <p:cNvSpPr/>
          <p:nvPr/>
        </p:nvSpPr>
        <p:spPr>
          <a:xfrm>
            <a:off x="10196759" y="3076080"/>
            <a:ext cx="1840831" cy="445168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6 Weeks</a:t>
            </a:r>
            <a:endParaRPr/>
          </a:p>
        </p:txBody>
      </p:sp>
      <p:sp>
        <p:nvSpPr>
          <p:cNvPr id="218" name="Google Shape;218;p1"/>
          <p:cNvSpPr/>
          <p:nvPr/>
        </p:nvSpPr>
        <p:spPr>
          <a:xfrm>
            <a:off x="8255665" y="3657606"/>
            <a:ext cx="3781925" cy="301992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Outcomes: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✔"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Foundation for future state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✔"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Controlled cost solution validation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✔"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Security &amp; Assurance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✔"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Improved data accessibility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✔"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Enhanced data processing &amp; performance</a:t>
            </a:r>
            <a:endParaRPr/>
          </a:p>
        </p:txBody>
      </p:sp>
      <p:sp>
        <p:nvSpPr>
          <p:cNvPr id="219" name="Google Shape;219;p1"/>
          <p:cNvSpPr/>
          <p:nvPr/>
        </p:nvSpPr>
        <p:spPr>
          <a:xfrm>
            <a:off x="377667" y="5137482"/>
            <a:ext cx="7615311" cy="15400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Deliverables: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oman using tablet standing in front of digital display" id="220" name="Google Shape;2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1576" y="1221210"/>
            <a:ext cx="3781925" cy="182612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"/>
          <p:cNvSpPr txBox="1"/>
          <p:nvPr/>
        </p:nvSpPr>
        <p:spPr>
          <a:xfrm>
            <a:off x="513348" y="1676762"/>
            <a:ext cx="209485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Collaborate with stakeholders to understand current landscape and pain points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Obtain agreement on desired outcomes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Tailored strategy to map Azure services to your unique needs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Develop 2-week sprints for POV implementation</a:t>
            </a:r>
            <a:endParaRPr/>
          </a:p>
        </p:txBody>
      </p:sp>
      <p:sp>
        <p:nvSpPr>
          <p:cNvPr id="222" name="Google Shape;222;p1"/>
          <p:cNvSpPr/>
          <p:nvPr/>
        </p:nvSpPr>
        <p:spPr>
          <a:xfrm>
            <a:off x="3088425" y="1588167"/>
            <a:ext cx="2134958" cy="32605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"/>
          <p:cNvSpPr txBox="1"/>
          <p:nvPr/>
        </p:nvSpPr>
        <p:spPr>
          <a:xfrm>
            <a:off x="3128534" y="1676762"/>
            <a:ext cx="2094850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Data migration and transformation from selected data sources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Data consolidation and scalable Data Warehouse using Azure Synapse Analytics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Azure ML to build foundation models and underscore actionable insights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Azure Power BI for interactive, visually engaging reports and dashboards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"/>
          <p:cNvSpPr txBox="1"/>
          <p:nvPr/>
        </p:nvSpPr>
        <p:spPr>
          <a:xfrm>
            <a:off x="5729033" y="1676762"/>
            <a:ext cx="209485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Hands on training sessions for the team for smooth transition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Enablement for scaling the solution and maintenance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"/>
          <p:cNvSpPr txBox="1"/>
          <p:nvPr/>
        </p:nvSpPr>
        <p:spPr>
          <a:xfrm>
            <a:off x="529060" y="5597538"/>
            <a:ext cx="209485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✔"/>
            </a:pPr>
            <a:r>
              <a:rPr b="0" i="0" lang="en-US" sz="10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Analytical workshops (high value use cases inventory, and pain points)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Proposed Solution Architecture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"/>
          <p:cNvSpPr txBox="1"/>
          <p:nvPr/>
        </p:nvSpPr>
        <p:spPr>
          <a:xfrm>
            <a:off x="2947736" y="5585502"/>
            <a:ext cx="209485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Competency &amp; RACI matrix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/ Flow maps for modernization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Value statistics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"/>
          <p:cNvSpPr txBox="1"/>
          <p:nvPr/>
        </p:nvSpPr>
        <p:spPr>
          <a:xfrm>
            <a:off x="5366412" y="5597533"/>
            <a:ext cx="209485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Proposed implementation path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documentation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"/>
          <p:cNvSpPr txBox="1"/>
          <p:nvPr/>
        </p:nvSpPr>
        <p:spPr>
          <a:xfrm>
            <a:off x="328862" y="142280"/>
            <a:ext cx="107462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Analytics Modernization POV Overview</a:t>
            </a:r>
            <a:endParaRPr/>
          </a:p>
        </p:txBody>
      </p:sp>
      <p:pic>
        <p:nvPicPr>
          <p:cNvPr descr="Stopwatch 33% with solid fill" id="229" name="Google Shape;22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6759" y="3076080"/>
            <a:ext cx="411324" cy="4113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llar with solid fill" id="230" name="Google Shape;23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7448" y="3138427"/>
            <a:ext cx="309804" cy="309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43a297df94_0_22"/>
          <p:cNvSpPr txBox="1"/>
          <p:nvPr/>
        </p:nvSpPr>
        <p:spPr>
          <a:xfrm>
            <a:off x="102912" y="76205"/>
            <a:ext cx="1074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B5394"/>
                </a:solidFill>
              </a:rPr>
              <a:t>Data and Platform Migration POV Overview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236" name="Google Shape;236;g243a297df94_0_22"/>
          <p:cNvSpPr/>
          <p:nvPr/>
        </p:nvSpPr>
        <p:spPr>
          <a:xfrm>
            <a:off x="7332872" y="86453"/>
            <a:ext cx="1840800" cy="445200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lang="en-US" sz="1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50-250k USD</a:t>
            </a:r>
            <a:endParaRPr/>
          </a:p>
        </p:txBody>
      </p:sp>
      <p:sp>
        <p:nvSpPr>
          <p:cNvPr id="237" name="Google Shape;237;g243a297df94_0_22"/>
          <p:cNvSpPr/>
          <p:nvPr/>
        </p:nvSpPr>
        <p:spPr>
          <a:xfrm>
            <a:off x="9290009" y="82443"/>
            <a:ext cx="1840800" cy="445200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*4-12 w</a:t>
            </a:r>
            <a:r>
              <a:rPr b="1" lang="en-US" sz="1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eeks</a:t>
            </a:r>
            <a:endParaRPr/>
          </a:p>
        </p:txBody>
      </p:sp>
      <p:sp>
        <p:nvSpPr>
          <p:cNvPr id="238" name="Google Shape;238;g243a297df94_0_22"/>
          <p:cNvSpPr txBox="1"/>
          <p:nvPr/>
        </p:nvSpPr>
        <p:spPr>
          <a:xfrm>
            <a:off x="7085600" y="6280000"/>
            <a:ext cx="513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* pricing and duration will vary depending on selected/recommended POV use-case/approach</a:t>
            </a:r>
            <a:endParaRPr i="1" sz="1200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g243a297df94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90300"/>
            <a:ext cx="11739800" cy="543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43a297df94_0_34"/>
          <p:cNvSpPr txBox="1"/>
          <p:nvPr/>
        </p:nvSpPr>
        <p:spPr>
          <a:xfrm>
            <a:off x="102912" y="76205"/>
            <a:ext cx="1074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B5394"/>
                </a:solidFill>
              </a:rPr>
              <a:t>Microsoft Fabric</a:t>
            </a:r>
            <a:r>
              <a:rPr b="1" lang="en-US" sz="2400">
                <a:solidFill>
                  <a:srgbClr val="0B5394"/>
                </a:solidFill>
              </a:rPr>
              <a:t> POV Overview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245" name="Google Shape;245;g243a297df94_0_34"/>
          <p:cNvSpPr/>
          <p:nvPr/>
        </p:nvSpPr>
        <p:spPr>
          <a:xfrm>
            <a:off x="6038472" y="309940"/>
            <a:ext cx="1840800" cy="445200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30k </a:t>
            </a:r>
            <a:r>
              <a:rPr b="1" lang="en-US" sz="1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USD</a:t>
            </a:r>
            <a:endParaRPr/>
          </a:p>
        </p:txBody>
      </p:sp>
      <p:sp>
        <p:nvSpPr>
          <p:cNvPr id="246" name="Google Shape;246;g243a297df94_0_34"/>
          <p:cNvSpPr/>
          <p:nvPr/>
        </p:nvSpPr>
        <p:spPr>
          <a:xfrm>
            <a:off x="7995609" y="305930"/>
            <a:ext cx="1840800" cy="445200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-US" sz="18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Weeks</a:t>
            </a:r>
            <a:endParaRPr/>
          </a:p>
        </p:txBody>
      </p:sp>
      <p:pic>
        <p:nvPicPr>
          <p:cNvPr descr="Stopwatch 33% with solid fill" id="247" name="Google Shape;247;g243a297df94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5609" y="305930"/>
            <a:ext cx="411324" cy="4113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llar with solid fill" id="248" name="Google Shape;248;g243a297df94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6298" y="368277"/>
            <a:ext cx="309804" cy="30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243a297df94_0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907550"/>
            <a:ext cx="11874551" cy="579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2023-08-22T01:52:02Z</dcterms:created>
  <dc:creator>Lokesh Chaturvedi</dc:creator>
</cp:coreProperties>
</file>